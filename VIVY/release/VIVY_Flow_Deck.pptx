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777240"/>
            <a:ext cx="164592" cy="5120640"/>
          </a:xfrm>
          <a:prstGeom prst="roundRect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0F8FF"/>
                </a:solidFill>
              </a:rPr>
              <a:t>VIVY 桌宠系统流程图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4C9DC"/>
                </a:solidFill>
              </a:rPr>
              <a:t>启动流程、对话流程、语音流程、记忆流程、创作流程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828800"/>
            <a:ext cx="9235440" cy="3200400"/>
          </a:xfrm>
          <a:prstGeom prst="roundRect">
            <a:avLst/>
          </a:prstGeom>
          <a:solidFill>
            <a:srgbClr val="121D2C"/>
          </a:solidFill>
          <a:ln w="22860">
            <a:solidFill>
              <a:srgbClr val="79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200">
                <a:solidFill>
                  <a:srgbClr val="F0F8FF"/>
                </a:solidFill>
              </a:defRPr>
            </a:pPr>
            <a:r>
              <a:t>Windows：启动脚本拉起 GPT-SoVITS 与 VIVY.exe</a:t>
            </a:r>
          </a:p>
          <a:p>
            <a:pPr>
              <a:spcAft>
                <a:spcPts val="1200"/>
              </a:spcAft>
              <a:defRPr sz="1800">
                <a:solidFill>
                  <a:srgbClr val="F0F8FF"/>
                </a:solidFill>
              </a:defRPr>
            </a:pPr>
            <a:r>
              <a:t>桌宠：接收文字、语音、图片与按钮事件</a:t>
            </a:r>
          </a:p>
          <a:p>
            <a:pPr>
              <a:spcAft>
                <a:spcPts val="1200"/>
              </a:spcAft>
              <a:defRPr sz="1800">
                <a:solidFill>
                  <a:srgbClr val="F0F8FF"/>
                </a:solidFill>
              </a:defRPr>
            </a:pPr>
            <a:r>
              <a:t>后端：本地 Flask API 负责对话、记忆与创作接口</a:t>
            </a:r>
          </a:p>
          <a:p>
            <a:pPr>
              <a:spcAft>
                <a:spcPts val="1200"/>
              </a:spcAft>
              <a:defRPr sz="1800">
                <a:solidFill>
                  <a:srgbClr val="F0F8FF"/>
                </a:solidFill>
              </a:defRPr>
            </a:pPr>
            <a:r>
              <a:t>AI：调用 DeepSeek / 兼容模型生成回复</a:t>
            </a:r>
          </a:p>
          <a:p>
            <a:pPr>
              <a:spcAft>
                <a:spcPts val="1200"/>
              </a:spcAft>
              <a:defRPr sz="1800">
                <a:solidFill>
                  <a:srgbClr val="F0F8FF"/>
                </a:solidFill>
              </a:defRPr>
            </a:pPr>
            <a:r>
              <a:t>数据：本地数据库保存用户记忆与最近回合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0936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4C9DC"/>
                </a:solidFill>
              </a:rPr>
              <a:t>VIVY 项目流程总览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0F8FF"/>
                </a:solidFill>
              </a:rPr>
              <a:t>系统总览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4C9DC"/>
                </a:solidFill>
              </a:rPr>
              <a:t>VIVY 整体由启动层、桌宠层、后端层、AI 层、数据层组成。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566160" cy="4480560"/>
          </a:xfrm>
          <a:prstGeom prst="roundRect">
            <a:avLst/>
          </a:prstGeom>
          <a:solidFill>
            <a:srgbClr val="121D2C"/>
          </a:solidFill>
          <a:ln w="19050">
            <a:solidFill>
              <a:srgbClr val="79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52400" tIns="152400" bIns="152400"/>
          <a:lstStyle/>
          <a:p>
            <a:pPr algn="ctr">
              <a:spcAft>
                <a:spcPts val="900"/>
              </a:spcAft>
              <a:defRPr sz="1700">
                <a:solidFill>
                  <a:srgbClr val="F0F8FF"/>
                </a:solidFill>
              </a:defRPr>
            </a:pPr>
            <a:r>
              <a:t>• 启动层：start_all.bat / start_all.ps1</a:t>
            </a:r>
          </a:p>
          <a:p>
            <a:pPr>
              <a:spcAft>
                <a:spcPts val="900"/>
              </a:spcAft>
              <a:defRPr sz="1700">
                <a:solidFill>
                  <a:srgbClr val="F0F8FF"/>
                </a:solidFill>
              </a:defRPr>
            </a:pPr>
            <a:r>
              <a:t>• 语音层：GPT-SoVITS 本地语音服务</a:t>
            </a:r>
          </a:p>
          <a:p>
            <a:pPr>
              <a:spcAft>
                <a:spcPts val="900"/>
              </a:spcAft>
              <a:defRPr sz="1700">
                <a:solidFill>
                  <a:srgbClr val="F0F8FF"/>
                </a:solidFill>
              </a:defRPr>
            </a:pPr>
            <a:r>
              <a:t>• 桌宠层：VIVY.exe / 双平台桌宠前端</a:t>
            </a:r>
          </a:p>
          <a:p>
            <a:pPr>
              <a:spcAft>
                <a:spcPts val="900"/>
              </a:spcAft>
              <a:defRPr sz="1700">
                <a:solidFill>
                  <a:srgbClr val="F0F8FF"/>
                </a:solidFill>
              </a:defRPr>
            </a:pPr>
            <a:r>
              <a:t>• 后端层：本地 Flask API</a:t>
            </a:r>
          </a:p>
          <a:p>
            <a:pPr>
              <a:spcAft>
                <a:spcPts val="900"/>
              </a:spcAft>
              <a:defRPr sz="1700">
                <a:solidFill>
                  <a:srgbClr val="F0F8FF"/>
                </a:solidFill>
              </a:defRPr>
            </a:pPr>
            <a:r>
              <a:t>• 数据层：vivy.sqlite、本地偏好与对话记录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822960"/>
            <a:ext cx="6126480" cy="566928"/>
          </a:xfrm>
          <a:prstGeom prst="roundRect">
            <a:avLst/>
          </a:prstGeom>
          <a:solidFill>
            <a:srgbClr val="37BFE8"/>
          </a:solidFill>
          <a:ln w="19050">
            <a:solidFill>
              <a:srgbClr val="79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0F8FF"/>
                </a:solidFill>
              </a:rPr>
              <a:t>用户</a:t>
            </a:r>
          </a:p>
        </p:txBody>
      </p:sp>
      <p:sp>
        <p:nvSpPr>
          <p:cNvPr id="6" name="Down Arrow 5"/>
          <p:cNvSpPr/>
          <p:nvPr/>
        </p:nvSpPr>
        <p:spPr>
          <a:xfrm>
            <a:off x="5605272" y="1463040"/>
            <a:ext cx="402336" cy="384048"/>
          </a:xfrm>
          <a:prstGeom prst="downArrow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0" y="1965960"/>
            <a:ext cx="6126480" cy="566928"/>
          </a:xfrm>
          <a:prstGeom prst="roundRect">
            <a:avLst/>
          </a:prstGeom>
          <a:solidFill>
            <a:srgbClr val="121D2C"/>
          </a:solidFill>
          <a:ln w="19050">
            <a:solidFill>
              <a:srgbClr val="79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0F8FF"/>
                </a:solidFill>
              </a:rPr>
              <a:t>启动脚本</a:t>
            </a:r>
          </a:p>
        </p:txBody>
      </p:sp>
      <p:sp>
        <p:nvSpPr>
          <p:cNvPr id="8" name="Down Arrow 7"/>
          <p:cNvSpPr/>
          <p:nvPr/>
        </p:nvSpPr>
        <p:spPr>
          <a:xfrm>
            <a:off x="5605272" y="2606039"/>
            <a:ext cx="402336" cy="384048"/>
          </a:xfrm>
          <a:prstGeom prst="downArrow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3108960"/>
            <a:ext cx="6126480" cy="566928"/>
          </a:xfrm>
          <a:prstGeom prst="roundRect">
            <a:avLst/>
          </a:prstGeom>
          <a:solidFill>
            <a:srgbClr val="121D2C"/>
          </a:solidFill>
          <a:ln w="19050">
            <a:solidFill>
              <a:srgbClr val="79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0F8FF"/>
                </a:solidFill>
              </a:rPr>
              <a:t>桌宠程序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605272" y="3749039"/>
            <a:ext cx="402336" cy="384048"/>
          </a:xfrm>
          <a:prstGeom prst="downArrow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4251960"/>
            <a:ext cx="6126480" cy="566928"/>
          </a:xfrm>
          <a:prstGeom prst="roundRect">
            <a:avLst/>
          </a:prstGeom>
          <a:solidFill>
            <a:srgbClr val="121D2C"/>
          </a:solidFill>
          <a:ln w="19050">
            <a:solidFill>
              <a:srgbClr val="79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0F8FF"/>
                </a:solidFill>
              </a:rPr>
              <a:t>本地后端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605272" y="4892040"/>
            <a:ext cx="402336" cy="384048"/>
          </a:xfrm>
          <a:prstGeom prst="downArrow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5394960"/>
            <a:ext cx="6126480" cy="566928"/>
          </a:xfrm>
          <a:prstGeom prst="roundRect">
            <a:avLst/>
          </a:prstGeom>
          <a:solidFill>
            <a:srgbClr val="121D2C"/>
          </a:solidFill>
          <a:ln w="19050">
            <a:solidFill>
              <a:srgbClr val="79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0F8FF"/>
                </a:solidFill>
              </a:rPr>
              <a:t>模型 / 记忆 / 语音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0936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4C9DC"/>
                </a:solidFill>
              </a:rPr>
              <a:t>VIVY 桌宠系统流程图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0F8FF"/>
                </a:solidFill>
              </a:rPr>
              <a:t>启动流程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4C9DC"/>
                </a:solidFill>
              </a:rPr>
              <a:t>从双击脚本到桌宠进入可交互状态。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54480"/>
            <a:ext cx="4663440" cy="4389120"/>
          </a:xfrm>
          <a:prstGeom prst="roundRect">
            <a:avLst/>
          </a:prstGeom>
          <a:solidFill>
            <a:srgbClr val="121D2C"/>
          </a:solidFill>
          <a:ln w="19050">
            <a:solidFill>
              <a:srgbClr val="79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52400" tIns="152400" bIns="152400"/>
          <a:lstStyle/>
          <a:p>
            <a:pPr algn="ctr"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用户双击 start_all.bat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PowerShell 脚本检测 GPU / CPU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启动 GPT-SoVITS 本地语音服务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等待语音服务端口就绪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启动 VIVY.exe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初始化本地后端、数据库与用户会话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645920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1. 双击 start_all.bat</a:t>
            </a:r>
          </a:p>
        </p:txBody>
      </p:sp>
      <p:sp>
        <p:nvSpPr>
          <p:cNvPr id="6" name="Chevron 5"/>
          <p:cNvSpPr/>
          <p:nvPr/>
        </p:nvSpPr>
        <p:spPr>
          <a:xfrm>
            <a:off x="8042148" y="2157984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0" y="2258568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2. 调用 start_all.ps1</a:t>
            </a:r>
          </a:p>
        </p:txBody>
      </p:sp>
      <p:sp>
        <p:nvSpPr>
          <p:cNvPr id="8" name="Chevron 7"/>
          <p:cNvSpPr/>
          <p:nvPr/>
        </p:nvSpPr>
        <p:spPr>
          <a:xfrm>
            <a:off x="8042148" y="2770632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15000" y="2871216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3. 检测 GPU / CPU</a:t>
            </a:r>
          </a:p>
        </p:txBody>
      </p:sp>
      <p:sp>
        <p:nvSpPr>
          <p:cNvPr id="10" name="Chevron 9"/>
          <p:cNvSpPr/>
          <p:nvPr/>
        </p:nvSpPr>
        <p:spPr>
          <a:xfrm>
            <a:off x="8042148" y="3383279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0" y="3483864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4. 启动 GPT-SoVITS</a:t>
            </a:r>
          </a:p>
        </p:txBody>
      </p:sp>
      <p:sp>
        <p:nvSpPr>
          <p:cNvPr id="12" name="Chevron 11"/>
          <p:cNvSpPr/>
          <p:nvPr/>
        </p:nvSpPr>
        <p:spPr>
          <a:xfrm>
            <a:off x="8042148" y="3995928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15000" y="4096512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5. 等待 127.0.0.1:9880 就绪</a:t>
            </a:r>
          </a:p>
        </p:txBody>
      </p:sp>
      <p:sp>
        <p:nvSpPr>
          <p:cNvPr id="14" name="Chevron 13"/>
          <p:cNvSpPr/>
          <p:nvPr/>
        </p:nvSpPr>
        <p:spPr>
          <a:xfrm>
            <a:off x="8042148" y="4608576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0" y="4709160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6. 启动 VIVY.exe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0936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4C9DC"/>
                </a:solidFill>
              </a:rPr>
              <a:t>VIVY 桌宠系统流程图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0F8FF"/>
                </a:solidFill>
              </a:rPr>
              <a:t>对话主流程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4C9DC"/>
                </a:solidFill>
              </a:rPr>
              <a:t>用户消息会先经过本地解析，再决定是否走 AI 对话。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54480"/>
            <a:ext cx="4663440" cy="4389120"/>
          </a:xfrm>
          <a:prstGeom prst="roundRect">
            <a:avLst/>
          </a:prstGeom>
          <a:solidFill>
            <a:srgbClr val="121D2C"/>
          </a:solidFill>
          <a:ln w="19050">
            <a:solidFill>
              <a:srgbClr val="79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52400" tIns="152400" bIns="152400"/>
          <a:lstStyle/>
          <a:p>
            <a:pPr algn="ctr"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输入来源：文字、语音、图片、快捷按钮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先判断是否命中本地唱歌等本地功能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普通消息走 AI 请求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后端读取记忆、偏好、摘要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构造 Prompt 并调用模型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返回文字回复与可选语音播报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645920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1. 用户输入</a:t>
            </a:r>
          </a:p>
        </p:txBody>
      </p:sp>
      <p:sp>
        <p:nvSpPr>
          <p:cNvPr id="6" name="Chevron 5"/>
          <p:cNvSpPr/>
          <p:nvPr/>
        </p:nvSpPr>
        <p:spPr>
          <a:xfrm>
            <a:off x="8042148" y="2157984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0" y="2258568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2. 桌宠解析请求</a:t>
            </a:r>
          </a:p>
        </p:txBody>
      </p:sp>
      <p:sp>
        <p:nvSpPr>
          <p:cNvPr id="8" name="Chevron 7"/>
          <p:cNvSpPr/>
          <p:nvPr/>
        </p:nvSpPr>
        <p:spPr>
          <a:xfrm>
            <a:off x="8042148" y="2770632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15000" y="2871216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3. 请求 Flask API</a:t>
            </a:r>
          </a:p>
        </p:txBody>
      </p:sp>
      <p:sp>
        <p:nvSpPr>
          <p:cNvPr id="10" name="Chevron 9"/>
          <p:cNvSpPr/>
          <p:nvPr/>
        </p:nvSpPr>
        <p:spPr>
          <a:xfrm>
            <a:off x="8042148" y="3383279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0" y="3483864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4. 读取记忆与偏好</a:t>
            </a:r>
          </a:p>
        </p:txBody>
      </p:sp>
      <p:sp>
        <p:nvSpPr>
          <p:cNvPr id="12" name="Chevron 11"/>
          <p:cNvSpPr/>
          <p:nvPr/>
        </p:nvSpPr>
        <p:spPr>
          <a:xfrm>
            <a:off x="8042148" y="3995928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15000" y="4096512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5. 调用模型</a:t>
            </a:r>
          </a:p>
        </p:txBody>
      </p:sp>
      <p:sp>
        <p:nvSpPr>
          <p:cNvPr id="14" name="Chevron 13"/>
          <p:cNvSpPr/>
          <p:nvPr/>
        </p:nvSpPr>
        <p:spPr>
          <a:xfrm>
            <a:off x="8042148" y="4608576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0" y="4709160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6. 返回文字 / 语音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0936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4C9DC"/>
                </a:solidFill>
              </a:rPr>
              <a:t>VIVY 桌宠系统流程图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0F8FF"/>
                </a:solidFill>
              </a:rPr>
              <a:t>回复中断机制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4C9DC"/>
                </a:solidFill>
              </a:rPr>
              <a:t>这版桌宠支持新问题优先，避免旧回复和新问题串线。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54480"/>
            <a:ext cx="4663440" cy="4389120"/>
          </a:xfrm>
          <a:prstGeom prst="roundRect">
            <a:avLst/>
          </a:prstGeom>
          <a:solidFill>
            <a:srgbClr val="121D2C"/>
          </a:solidFill>
          <a:ln w="19050">
            <a:solidFill>
              <a:srgbClr val="79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52400" tIns="152400" bIns="152400"/>
          <a:lstStyle/>
          <a:p>
            <a:pPr algn="ctr"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如果上一条回复仍在生成，用户可直接继续提问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新问题发出时，旧语音立即中断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旧流式输出失效，不再刷新界面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新问题接管当前会话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新回复重新开始显示与播报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645920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1. 旧回复进行中</a:t>
            </a:r>
          </a:p>
        </p:txBody>
      </p:sp>
      <p:sp>
        <p:nvSpPr>
          <p:cNvPr id="6" name="Chevron 5"/>
          <p:cNvSpPr/>
          <p:nvPr/>
        </p:nvSpPr>
        <p:spPr>
          <a:xfrm>
            <a:off x="8042148" y="2157984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0" y="2258568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2. 用户发送新问题</a:t>
            </a:r>
          </a:p>
        </p:txBody>
      </p:sp>
      <p:sp>
        <p:nvSpPr>
          <p:cNvPr id="8" name="Chevron 7"/>
          <p:cNvSpPr/>
          <p:nvPr/>
        </p:nvSpPr>
        <p:spPr>
          <a:xfrm>
            <a:off x="8042148" y="2770632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15000" y="2871216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3. 中断旧语音</a:t>
            </a:r>
          </a:p>
        </p:txBody>
      </p:sp>
      <p:sp>
        <p:nvSpPr>
          <p:cNvPr id="10" name="Chevron 9"/>
          <p:cNvSpPr/>
          <p:nvPr/>
        </p:nvSpPr>
        <p:spPr>
          <a:xfrm>
            <a:off x="8042148" y="3383279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0" y="3483864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4. 旧请求失效</a:t>
            </a:r>
          </a:p>
        </p:txBody>
      </p:sp>
      <p:sp>
        <p:nvSpPr>
          <p:cNvPr id="12" name="Chevron 11"/>
          <p:cNvSpPr/>
          <p:nvPr/>
        </p:nvSpPr>
        <p:spPr>
          <a:xfrm>
            <a:off x="8042148" y="3995928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15000" y="4096512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5. 新问题接管</a:t>
            </a:r>
          </a:p>
        </p:txBody>
      </p:sp>
      <p:sp>
        <p:nvSpPr>
          <p:cNvPr id="14" name="Chevron 13"/>
          <p:cNvSpPr/>
          <p:nvPr/>
        </p:nvSpPr>
        <p:spPr>
          <a:xfrm>
            <a:off x="8042148" y="4608576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0" y="4709160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6. 新回复显示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0936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4C9DC"/>
                </a:solidFill>
              </a:rPr>
              <a:t>VIVY 桌宠系统流程图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0F8FF"/>
                </a:solidFill>
              </a:rPr>
              <a:t>语音输入流程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4C9DC"/>
                </a:solidFill>
              </a:rPr>
              <a:t>语音输入由桌宠弹窗配合系统听写完成。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54480"/>
            <a:ext cx="4663440" cy="4389120"/>
          </a:xfrm>
          <a:prstGeom prst="roundRect">
            <a:avLst/>
          </a:prstGeom>
          <a:solidFill>
            <a:srgbClr val="121D2C"/>
          </a:solidFill>
          <a:ln w="19050">
            <a:solidFill>
              <a:srgbClr val="79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52400" tIns="152400" bIns="152400"/>
          <a:lstStyle/>
          <a:p>
            <a:pPr algn="ctr"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用户点击“语音”按钮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打开语音输入弹窗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触发系统听写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听写文字落入输入框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用户确认后回填主输入框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进入正常对话流程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645920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1. 点击语音</a:t>
            </a:r>
          </a:p>
        </p:txBody>
      </p:sp>
      <p:sp>
        <p:nvSpPr>
          <p:cNvPr id="6" name="Chevron 5"/>
          <p:cNvSpPr/>
          <p:nvPr/>
        </p:nvSpPr>
        <p:spPr>
          <a:xfrm>
            <a:off x="8042148" y="2157984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0" y="2258568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2. 打开听写弹窗</a:t>
            </a:r>
          </a:p>
        </p:txBody>
      </p:sp>
      <p:sp>
        <p:nvSpPr>
          <p:cNvPr id="8" name="Chevron 7"/>
          <p:cNvSpPr/>
          <p:nvPr/>
        </p:nvSpPr>
        <p:spPr>
          <a:xfrm>
            <a:off x="8042148" y="2770632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15000" y="2871216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3. 系统听写</a:t>
            </a:r>
          </a:p>
        </p:txBody>
      </p:sp>
      <p:sp>
        <p:nvSpPr>
          <p:cNvPr id="10" name="Chevron 9"/>
          <p:cNvSpPr/>
          <p:nvPr/>
        </p:nvSpPr>
        <p:spPr>
          <a:xfrm>
            <a:off x="8042148" y="3383279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0" y="3483864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4. 文字回填</a:t>
            </a:r>
          </a:p>
        </p:txBody>
      </p:sp>
      <p:sp>
        <p:nvSpPr>
          <p:cNvPr id="12" name="Chevron 11"/>
          <p:cNvSpPr/>
          <p:nvPr/>
        </p:nvSpPr>
        <p:spPr>
          <a:xfrm>
            <a:off x="8042148" y="3995928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15000" y="4096512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5. 确认发送</a:t>
            </a:r>
          </a:p>
        </p:txBody>
      </p:sp>
      <p:sp>
        <p:nvSpPr>
          <p:cNvPr id="14" name="Chevron 13"/>
          <p:cNvSpPr/>
          <p:nvPr/>
        </p:nvSpPr>
        <p:spPr>
          <a:xfrm>
            <a:off x="8042148" y="4608576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0" y="4709160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6. 进入 AI 对话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0936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4C9DC"/>
                </a:solidFill>
              </a:rPr>
              <a:t>VIVY 桌宠系统流程图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0F8FF"/>
                </a:solidFill>
              </a:rPr>
              <a:t>语音输出流程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4C9DC"/>
                </a:solidFill>
              </a:rPr>
              <a:t>回复生成后根据设置决定是否进行语音播报。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54480"/>
            <a:ext cx="4663440" cy="4389120"/>
          </a:xfrm>
          <a:prstGeom prst="roundRect">
            <a:avLst/>
          </a:prstGeom>
          <a:solidFill>
            <a:srgbClr val="121D2C"/>
          </a:solidFill>
          <a:ln w="19050">
            <a:solidFill>
              <a:srgbClr val="79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52400" tIns="152400" bIns="152400"/>
          <a:lstStyle/>
          <a:p>
            <a:pPr algn="ctr"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检查是否开启语音回放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Windows 优先使用 GPT-SoVITS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macOS 默认使用系统 say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支持流式朗读与完整朗读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新问题到来时可中断当前播报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645920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1. 回复完成</a:t>
            </a:r>
          </a:p>
        </p:txBody>
      </p:sp>
      <p:sp>
        <p:nvSpPr>
          <p:cNvPr id="6" name="Chevron 5"/>
          <p:cNvSpPr/>
          <p:nvPr/>
        </p:nvSpPr>
        <p:spPr>
          <a:xfrm>
            <a:off x="8042148" y="2157984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0" y="2258568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2. 判断是否播报</a:t>
            </a:r>
          </a:p>
        </p:txBody>
      </p:sp>
      <p:sp>
        <p:nvSpPr>
          <p:cNvPr id="8" name="Chevron 7"/>
          <p:cNvSpPr/>
          <p:nvPr/>
        </p:nvSpPr>
        <p:spPr>
          <a:xfrm>
            <a:off x="8042148" y="2770632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15000" y="2871216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3. 进入 TTS</a:t>
            </a:r>
          </a:p>
        </p:txBody>
      </p:sp>
      <p:sp>
        <p:nvSpPr>
          <p:cNvPr id="10" name="Chevron 9"/>
          <p:cNvSpPr/>
          <p:nvPr/>
        </p:nvSpPr>
        <p:spPr>
          <a:xfrm>
            <a:off x="8042148" y="3383279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0" y="3483864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4. 播报进行中</a:t>
            </a:r>
          </a:p>
        </p:txBody>
      </p:sp>
      <p:sp>
        <p:nvSpPr>
          <p:cNvPr id="12" name="Chevron 11"/>
          <p:cNvSpPr/>
          <p:nvPr/>
        </p:nvSpPr>
        <p:spPr>
          <a:xfrm>
            <a:off x="8042148" y="3995928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15000" y="4096512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5. 如有新问题则中断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0936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4C9DC"/>
                </a:solidFill>
              </a:rPr>
              <a:t>VIVY 桌宠系统流程图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0F8FF"/>
                </a:solidFill>
              </a:rPr>
              <a:t>本地唱歌流程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4C9DC"/>
                </a:solidFill>
              </a:rPr>
              <a:t>唱歌功能属于本地功能，不依赖大模型生成完整歌曲。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54480"/>
            <a:ext cx="4663440" cy="4389120"/>
          </a:xfrm>
          <a:prstGeom prst="roundRect">
            <a:avLst/>
          </a:prstGeom>
          <a:solidFill>
            <a:srgbClr val="121D2C"/>
          </a:solidFill>
          <a:ln w="19050">
            <a:solidFill>
              <a:srgbClr val="79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52400" tIns="152400" bIns="152400"/>
          <a:lstStyle/>
          <a:p>
            <a:pPr algn="ctr"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识别“唱歌 / 哄我 / 安慰我”等关键词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生成唱歌开场文案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显示气泡并可先播报文案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从 song 目录选择本地 wav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开始播放歌曲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支持“停止唱歌”中断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645920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1. 识别唱歌关键词</a:t>
            </a:r>
          </a:p>
        </p:txBody>
      </p:sp>
      <p:sp>
        <p:nvSpPr>
          <p:cNvPr id="6" name="Chevron 5"/>
          <p:cNvSpPr/>
          <p:nvPr/>
        </p:nvSpPr>
        <p:spPr>
          <a:xfrm>
            <a:off x="8042148" y="2157984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0" y="2258568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2. 生成开场文案</a:t>
            </a:r>
          </a:p>
        </p:txBody>
      </p:sp>
      <p:sp>
        <p:nvSpPr>
          <p:cNvPr id="8" name="Chevron 7"/>
          <p:cNvSpPr/>
          <p:nvPr/>
        </p:nvSpPr>
        <p:spPr>
          <a:xfrm>
            <a:off x="8042148" y="2770632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15000" y="2871216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3. 显示 / 播报提示</a:t>
            </a:r>
          </a:p>
        </p:txBody>
      </p:sp>
      <p:sp>
        <p:nvSpPr>
          <p:cNvPr id="10" name="Chevron 9"/>
          <p:cNvSpPr/>
          <p:nvPr/>
        </p:nvSpPr>
        <p:spPr>
          <a:xfrm>
            <a:off x="8042148" y="3383279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0" y="3483864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4. 选中本地歌曲</a:t>
            </a:r>
          </a:p>
        </p:txBody>
      </p:sp>
      <p:sp>
        <p:nvSpPr>
          <p:cNvPr id="12" name="Chevron 11"/>
          <p:cNvSpPr/>
          <p:nvPr/>
        </p:nvSpPr>
        <p:spPr>
          <a:xfrm>
            <a:off x="8042148" y="3995928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15000" y="4096512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5. 开始播放</a:t>
            </a:r>
          </a:p>
        </p:txBody>
      </p:sp>
      <p:sp>
        <p:nvSpPr>
          <p:cNvPr id="14" name="Chevron 13"/>
          <p:cNvSpPr/>
          <p:nvPr/>
        </p:nvSpPr>
        <p:spPr>
          <a:xfrm>
            <a:off x="8042148" y="4608576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0" y="4709160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6. 停止唱歌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0936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4C9DC"/>
                </a:solidFill>
              </a:rPr>
              <a:t>VIVY 桌宠系统流程图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0F8FF"/>
                </a:solidFill>
              </a:rPr>
              <a:t>记忆系统流程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4C9DC"/>
                </a:solidFill>
              </a:rPr>
              <a:t>VIVY 会把用户偏好与最近对话写入本地数据库。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54480"/>
            <a:ext cx="4663440" cy="4389120"/>
          </a:xfrm>
          <a:prstGeom prst="roundRect">
            <a:avLst/>
          </a:prstGeom>
          <a:solidFill>
            <a:srgbClr val="121D2C"/>
          </a:solidFill>
          <a:ln w="19050">
            <a:solidFill>
              <a:srgbClr val="79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52400" tIns="152400" bIns="152400"/>
          <a:lstStyle/>
          <a:p>
            <a:pPr algn="ctr"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记录 user turn 与 assistant turn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保存兴趣信号、形态切换与偏好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定期生成 short summary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定期生成 long summary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后续对话时作为上下文参考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记忆面板支持查看、编辑、删除回合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645920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1. 用户消息入库</a:t>
            </a:r>
          </a:p>
        </p:txBody>
      </p:sp>
      <p:sp>
        <p:nvSpPr>
          <p:cNvPr id="6" name="Chevron 5"/>
          <p:cNvSpPr/>
          <p:nvPr/>
        </p:nvSpPr>
        <p:spPr>
          <a:xfrm>
            <a:off x="8042148" y="2157984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0" y="2258568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2. 助手回复入库</a:t>
            </a:r>
          </a:p>
        </p:txBody>
      </p:sp>
      <p:sp>
        <p:nvSpPr>
          <p:cNvPr id="8" name="Chevron 7"/>
          <p:cNvSpPr/>
          <p:nvPr/>
        </p:nvSpPr>
        <p:spPr>
          <a:xfrm>
            <a:off x="8042148" y="2770632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15000" y="2871216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3. 更新偏好与摘要</a:t>
            </a:r>
          </a:p>
        </p:txBody>
      </p:sp>
      <p:sp>
        <p:nvSpPr>
          <p:cNvPr id="10" name="Chevron 9"/>
          <p:cNvSpPr/>
          <p:nvPr/>
        </p:nvSpPr>
        <p:spPr>
          <a:xfrm>
            <a:off x="8042148" y="3383279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0" y="3483864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4. 写回本地数据库</a:t>
            </a:r>
          </a:p>
        </p:txBody>
      </p:sp>
      <p:sp>
        <p:nvSpPr>
          <p:cNvPr id="12" name="Chevron 11"/>
          <p:cNvSpPr/>
          <p:nvPr/>
        </p:nvSpPr>
        <p:spPr>
          <a:xfrm>
            <a:off x="8042148" y="3995928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15000" y="4096512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5. 后续对话复用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0936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4C9DC"/>
                </a:solidFill>
              </a:rPr>
              <a:t>VIVY 桌宠系统流程图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0F8FF"/>
                </a:solidFill>
              </a:rPr>
              <a:t>创作辅助流程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4C9DC"/>
                </a:solidFill>
              </a:rPr>
              <a:t>创作模式可读取文档并走流式创作接口。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54480"/>
            <a:ext cx="4663440" cy="4389120"/>
          </a:xfrm>
          <a:prstGeom prst="roundRect">
            <a:avLst/>
          </a:prstGeom>
          <a:solidFill>
            <a:srgbClr val="121D2C"/>
          </a:solidFill>
          <a:ln w="19050">
            <a:solidFill>
              <a:srgbClr val="79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52400" tIns="152400" bIns="152400"/>
          <a:lstStyle/>
          <a:p>
            <a:pPr algn="ctr"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切换到创作模式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读取文档或打开沉浸写作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调用 creative_doc_stream / office_passage_stream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流式生成润色、续写、点评、加强结果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支持复制、插入和替换文本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645920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1. 切换创作模式</a:t>
            </a:r>
          </a:p>
        </p:txBody>
      </p:sp>
      <p:sp>
        <p:nvSpPr>
          <p:cNvPr id="6" name="Chevron 5"/>
          <p:cNvSpPr/>
          <p:nvPr/>
        </p:nvSpPr>
        <p:spPr>
          <a:xfrm>
            <a:off x="8042148" y="2157984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0" y="2258568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2. 读取文档 / 选区</a:t>
            </a:r>
          </a:p>
        </p:txBody>
      </p:sp>
      <p:sp>
        <p:nvSpPr>
          <p:cNvPr id="8" name="Chevron 7"/>
          <p:cNvSpPr/>
          <p:nvPr/>
        </p:nvSpPr>
        <p:spPr>
          <a:xfrm>
            <a:off x="8042148" y="2770632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15000" y="2871216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3. 构造创作 Prompt</a:t>
            </a:r>
          </a:p>
        </p:txBody>
      </p:sp>
      <p:sp>
        <p:nvSpPr>
          <p:cNvPr id="10" name="Chevron 9"/>
          <p:cNvSpPr/>
          <p:nvPr/>
        </p:nvSpPr>
        <p:spPr>
          <a:xfrm>
            <a:off x="8042148" y="3383279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0" y="3483864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4. 流式返回建议</a:t>
            </a:r>
          </a:p>
        </p:txBody>
      </p:sp>
      <p:sp>
        <p:nvSpPr>
          <p:cNvPr id="12" name="Chevron 11"/>
          <p:cNvSpPr/>
          <p:nvPr/>
        </p:nvSpPr>
        <p:spPr>
          <a:xfrm>
            <a:off x="8042148" y="3995928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15000" y="4096512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5. 写作辅助落地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0936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4C9DC"/>
                </a:solidFill>
              </a:rPr>
              <a:t>VIVY 桌宠系统流程图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0F8FF"/>
                </a:solidFill>
              </a:rPr>
              <a:t>图片理解流程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4C9DC"/>
                </a:solidFill>
              </a:rPr>
              <a:t>图片会作为结构化消息发送给后端，并按配置决定是否启用视觉模型。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54480"/>
            <a:ext cx="4663440" cy="4389120"/>
          </a:xfrm>
          <a:prstGeom prst="roundRect">
            <a:avLst/>
          </a:prstGeom>
          <a:solidFill>
            <a:srgbClr val="121D2C"/>
          </a:solidFill>
          <a:ln w="19050">
            <a:solidFill>
              <a:srgbClr val="79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52400" tIns="152400" bIns="152400"/>
          <a:lstStyle/>
          <a:p>
            <a:pPr algn="ctr"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用户选择图片并输入问题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桌宠把图片编码为 data_url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与文字一起发送到 /api/message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后端判断是否配置视觉模型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有视觉模型时进入看图能力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未配置时返回降级提示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645920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1. 选择图片</a:t>
            </a:r>
          </a:p>
        </p:txBody>
      </p:sp>
      <p:sp>
        <p:nvSpPr>
          <p:cNvPr id="6" name="Chevron 5"/>
          <p:cNvSpPr/>
          <p:nvPr/>
        </p:nvSpPr>
        <p:spPr>
          <a:xfrm>
            <a:off x="8042148" y="2157984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0" y="2258568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2. 编码为 data_url</a:t>
            </a:r>
          </a:p>
        </p:txBody>
      </p:sp>
      <p:sp>
        <p:nvSpPr>
          <p:cNvPr id="8" name="Chevron 7"/>
          <p:cNvSpPr/>
          <p:nvPr/>
        </p:nvSpPr>
        <p:spPr>
          <a:xfrm>
            <a:off x="8042148" y="2770632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15000" y="2871216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3. 发送后端</a:t>
            </a:r>
          </a:p>
        </p:txBody>
      </p:sp>
      <p:sp>
        <p:nvSpPr>
          <p:cNvPr id="10" name="Chevron 9"/>
          <p:cNvSpPr/>
          <p:nvPr/>
        </p:nvSpPr>
        <p:spPr>
          <a:xfrm>
            <a:off x="8042148" y="3383279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0" y="3483864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4. 判断视觉模型</a:t>
            </a:r>
          </a:p>
        </p:txBody>
      </p:sp>
      <p:sp>
        <p:nvSpPr>
          <p:cNvPr id="12" name="Chevron 11"/>
          <p:cNvSpPr/>
          <p:nvPr/>
        </p:nvSpPr>
        <p:spPr>
          <a:xfrm>
            <a:off x="8042148" y="3995928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15000" y="4096512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5. 看图 / 降级提示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0936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4C9DC"/>
                </a:solidFill>
              </a:rPr>
              <a:t>VIVY 桌宠系统流程图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0F8FF"/>
                </a:solidFill>
              </a:rPr>
              <a:t>双平台说明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4C9DC"/>
                </a:solidFill>
              </a:rPr>
              <a:t>Windows 与 macOS 保持相近的交互逻辑，但启动方式不同。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54480"/>
            <a:ext cx="4663440" cy="4389120"/>
          </a:xfrm>
          <a:prstGeom prst="roundRect">
            <a:avLst/>
          </a:prstGeom>
          <a:solidFill>
            <a:srgbClr val="121D2C"/>
          </a:solidFill>
          <a:ln w="19050">
            <a:solidFill>
              <a:srgbClr val="79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52400" tIns="152400" bIns="152400"/>
          <a:lstStyle/>
          <a:p>
            <a:pPr algn="ctr"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Windows：双击 start_all.bat，直接运行成品包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macOS：执行 start_all.command / start_all.sh，运行源码启动包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Windows 默认本地 GPT-SoVITS 语音服务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macOS 默认系统语音 say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交互逻辑、唱歌文案、状态提示尽量保持一致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645920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1. Windows 启动脚本</a:t>
            </a:r>
          </a:p>
        </p:txBody>
      </p:sp>
      <p:sp>
        <p:nvSpPr>
          <p:cNvPr id="6" name="Chevron 5"/>
          <p:cNvSpPr/>
          <p:nvPr/>
        </p:nvSpPr>
        <p:spPr>
          <a:xfrm>
            <a:off x="8042148" y="2157984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0" y="2258568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2. macOS 启动脚本</a:t>
            </a:r>
          </a:p>
        </p:txBody>
      </p:sp>
      <p:sp>
        <p:nvSpPr>
          <p:cNvPr id="8" name="Chevron 7"/>
          <p:cNvSpPr/>
          <p:nvPr/>
        </p:nvSpPr>
        <p:spPr>
          <a:xfrm>
            <a:off x="8042148" y="2770632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15000" y="2871216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3. 统一 UI 与交互</a:t>
            </a:r>
          </a:p>
        </p:txBody>
      </p:sp>
      <p:sp>
        <p:nvSpPr>
          <p:cNvPr id="10" name="Chevron 9"/>
          <p:cNvSpPr/>
          <p:nvPr/>
        </p:nvSpPr>
        <p:spPr>
          <a:xfrm>
            <a:off x="8042148" y="3383279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0" y="3483864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4. 不同 TTS 实现</a:t>
            </a:r>
          </a:p>
        </p:txBody>
      </p:sp>
      <p:sp>
        <p:nvSpPr>
          <p:cNvPr id="12" name="Chevron 11"/>
          <p:cNvSpPr/>
          <p:nvPr/>
        </p:nvSpPr>
        <p:spPr>
          <a:xfrm>
            <a:off x="8042148" y="3995928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15000" y="4096512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5. 双平台并行维护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0936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4C9DC"/>
                </a:solidFill>
              </a:rPr>
              <a:t>VIVY 桌宠系统流程图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0F8FF"/>
                </a:solidFill>
              </a:rP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4C9DC"/>
                </a:solidFill>
              </a:rPr>
              <a:t>VIVY 已形成完整的桌宠 AI 交互闭环。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54480"/>
            <a:ext cx="4663440" cy="4389120"/>
          </a:xfrm>
          <a:prstGeom prst="roundRect">
            <a:avLst/>
          </a:prstGeom>
          <a:solidFill>
            <a:srgbClr val="121D2C"/>
          </a:solidFill>
          <a:ln w="19050">
            <a:solidFill>
              <a:srgbClr val="79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52400" tIns="152400" bIns="152400"/>
          <a:lstStyle/>
          <a:p>
            <a:pPr algn="ctr"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覆盖启动、对话、语音、记忆、创作与本地唱歌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支持回复中断、状态恢复与双平台兼容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Windows 适合直接发布，macOS 具备源码启动能力</a:t>
            </a:r>
          </a:p>
          <a:p>
            <a:pPr>
              <a:spcAft>
                <a:spcPts val="900"/>
              </a:spcAft>
              <a:defRPr sz="2000">
                <a:solidFill>
                  <a:srgbClr val="F0F8FF"/>
                </a:solidFill>
              </a:defRPr>
            </a:pPr>
            <a:r>
              <a:t>• 后续仍可继续完善原生打包与 Release 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645920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1. 启动完整</a:t>
            </a:r>
          </a:p>
        </p:txBody>
      </p:sp>
      <p:sp>
        <p:nvSpPr>
          <p:cNvPr id="6" name="Chevron 5"/>
          <p:cNvSpPr/>
          <p:nvPr/>
        </p:nvSpPr>
        <p:spPr>
          <a:xfrm>
            <a:off x="8042148" y="2157984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0" y="2258568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2. 交互完整</a:t>
            </a:r>
          </a:p>
        </p:txBody>
      </p:sp>
      <p:sp>
        <p:nvSpPr>
          <p:cNvPr id="8" name="Chevron 7"/>
          <p:cNvSpPr/>
          <p:nvPr/>
        </p:nvSpPr>
        <p:spPr>
          <a:xfrm>
            <a:off x="8042148" y="2770632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15000" y="2871216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3. 记忆完整</a:t>
            </a:r>
          </a:p>
        </p:txBody>
      </p:sp>
      <p:sp>
        <p:nvSpPr>
          <p:cNvPr id="10" name="Chevron 9"/>
          <p:cNvSpPr/>
          <p:nvPr/>
        </p:nvSpPr>
        <p:spPr>
          <a:xfrm>
            <a:off x="8042148" y="3383279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0" y="3483864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4. 创作完整</a:t>
            </a:r>
          </a:p>
        </p:txBody>
      </p:sp>
      <p:sp>
        <p:nvSpPr>
          <p:cNvPr id="12" name="Chevron 11"/>
          <p:cNvSpPr/>
          <p:nvPr/>
        </p:nvSpPr>
        <p:spPr>
          <a:xfrm>
            <a:off x="8042148" y="3995928"/>
            <a:ext cx="329184" cy="146304"/>
          </a:xfrm>
          <a:prstGeom prst="chevron">
            <a:avLst/>
          </a:prstGeom>
          <a:solidFill>
            <a:srgbClr val="37BFE8"/>
          </a:solidFill>
          <a:ln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15000" y="4096512"/>
            <a:ext cx="4983480" cy="502920"/>
          </a:xfrm>
          <a:prstGeom prst="roundRect">
            <a:avLst/>
          </a:prstGeom>
          <a:solidFill>
            <a:srgbClr val="121D2C"/>
          </a:solidFill>
          <a:ln w="20320">
            <a:solidFill>
              <a:srgbClr val="37B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0F8FF"/>
                </a:solidFill>
              </a:rPr>
              <a:t>5. 可继续扩展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0936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4C9DC"/>
                </a:solidFill>
              </a:rPr>
              <a:t>VIVY 桌宠系统流程图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