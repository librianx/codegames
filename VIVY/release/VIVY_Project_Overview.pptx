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731520"/>
            <a:ext cx="164592" cy="5303520"/>
          </a:xfrm>
          <a:prstGeom prst="roundRect">
            <a:avLst/>
          </a:prstGeom>
          <a:solidFill>
            <a:srgbClr val="38BEE8"/>
          </a:solidFill>
          <a:ln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8FF"/>
                </a:solidFill>
              </a:rPr>
              <a:t>VIVY 桌宠项目汇报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7C9DC"/>
                </a:solidFill>
              </a:rPr>
              <a:t>作品简介｜功能说明｜技术路线｜运行流程图｜技术方案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9326880" cy="219456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项目定位</a:t>
            </a:r>
          </a:p>
          <a:p>
            <a:pPr>
              <a:spcAft>
                <a:spcPts val="700"/>
              </a:spcAft>
              <a:defRPr sz="2000">
                <a:solidFill>
                  <a:srgbClr val="F1F8FF"/>
                </a:solidFill>
              </a:defRPr>
            </a:pPr>
            <a:r>
              <a:t>• 一款面向陪伴、对话与创作辅助的 AI 桌面宠物</a:t>
            </a:r>
          </a:p>
          <a:p>
            <a:pPr>
              <a:spcAft>
                <a:spcPts val="700"/>
              </a:spcAft>
              <a:defRPr sz="2000">
                <a:solidFill>
                  <a:srgbClr val="F1F8FF"/>
                </a:solidFill>
              </a:defRPr>
            </a:pPr>
            <a:r>
              <a:t>• 支持文字聊天、语音回放、唱歌、记忆系统与创作辅助</a:t>
            </a:r>
          </a:p>
          <a:p>
            <a:pPr>
              <a:spcAft>
                <a:spcPts val="700"/>
              </a:spcAft>
              <a:defRPr sz="2000">
                <a:solidFill>
                  <a:srgbClr val="F1F8FF"/>
                </a:solidFill>
              </a:defRPr>
            </a:pPr>
            <a:r>
              <a:t>• 已扩展为 Windows / macOS 双平台可运行方案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297680"/>
            <a:ext cx="9326880" cy="137160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汇报重点</a:t>
            </a:r>
          </a:p>
          <a:p>
            <a:pPr>
              <a:spcAft>
                <a:spcPts val="700"/>
              </a:spcAft>
              <a:defRPr sz="1800">
                <a:solidFill>
                  <a:srgbClr val="F1F8FF"/>
                </a:solidFill>
              </a:defRPr>
            </a:pPr>
            <a:r>
              <a:t>• 系统整体定位与作品简介</a:t>
            </a:r>
          </a:p>
          <a:p>
            <a:pPr>
              <a:spcAft>
                <a:spcPts val="700"/>
              </a:spcAft>
              <a:defRPr sz="1800">
                <a:solidFill>
                  <a:srgbClr val="F1F8FF"/>
                </a:solidFill>
              </a:defRPr>
            </a:pPr>
            <a:r>
              <a:t>• 主要功能说明与交互闭环</a:t>
            </a:r>
          </a:p>
          <a:p>
            <a:pPr>
              <a:spcAft>
                <a:spcPts val="700"/>
              </a:spcAft>
              <a:defRPr sz="1800">
                <a:solidFill>
                  <a:srgbClr val="F1F8FF"/>
                </a:solidFill>
              </a:defRPr>
            </a:pPr>
            <a:r>
              <a:t>• 技术路线、运行流程与实现方案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9DC"/>
                </a:solidFill>
              </a:rPr>
              <a:t>VIVY 项目汇报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8FF"/>
                </a:solidFill>
              </a:rPr>
              <a:t>作品简介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7C9DC"/>
                </a:solidFill>
              </a:rPr>
              <a:t>介绍 VIVY 的定位、目标与应用场景。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846320" cy="452628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项目简介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VIVY 是一款桌面 AI 桌宠，目标是把陪伴感、对话感和创作辅助融合到桌面常驻形态中。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用户无需打开网页，即可通过桌宠完成聊天、获取灵感、调用语音与管理记忆。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项目强调“桌面陪伴 + 本地服务 + AI 能力”的一体化体验。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554480"/>
            <a:ext cx="5212080" cy="452628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应用场景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日常陪伴与情绪交流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写作灵感与创作辅助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语音播报与唱歌互动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桌面常驻式轻交互助手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550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9DC"/>
                </a:solidFill>
              </a:rPr>
              <a:t>VIVY 项目汇报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8FF"/>
                </a:solidFill>
              </a:rPr>
              <a:t>功能说明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7C9DC"/>
                </a:solidFill>
              </a:rPr>
              <a:t>VIVY 已形成较完整的桌宠功能闭环。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846320" cy="452628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核心功能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对话：普通聊天、创作模式、流式回复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语音：语音输入、语音回放、可打断播报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本地互动：唱歌、停止唱歌、状态提示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记忆：偏好记录、摘要更新、历史回合管理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创作：文档读取、沉浸写作、Office 选区辅助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视觉：支持图片消息入口与视觉模型扩展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554480"/>
            <a:ext cx="5212080" cy="452628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交互亮点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状态提示显示后可恢复主回答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新问题可中断旧语音与旧回复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待机时长可视化设置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双平台交互逻辑尽量一致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550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9DC"/>
                </a:solidFill>
              </a:rPr>
              <a:t>VIVY 项目汇报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8FF"/>
                </a:solidFill>
              </a:rPr>
              <a:t>技术路线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7C9DC"/>
                </a:solidFill>
              </a:rPr>
              <a:t>项目采用“前端桌宠 + 本地服务 + 外部模型 + 本地数据”的组合路线。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1572768"/>
            <a:ext cx="8412480" cy="530352"/>
          </a:xfrm>
          <a:prstGeom prst="roundRect">
            <a:avLst/>
          </a:prstGeom>
          <a:solidFill>
            <a:srgbClr val="121C2B"/>
          </a:solidFill>
          <a:ln w="1524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用户交互层：桌宠界面、按钮、输入框、语音弹窗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2441448"/>
            <a:ext cx="8412480" cy="530352"/>
          </a:xfrm>
          <a:prstGeom prst="roundRect">
            <a:avLst/>
          </a:prstGeom>
          <a:solidFill>
            <a:srgbClr val="19283C"/>
          </a:solidFill>
          <a:ln w="1524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应用逻辑层：请求分流、状态控制、中断机制、唱歌逻辑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3310128"/>
            <a:ext cx="8412480" cy="530352"/>
          </a:xfrm>
          <a:prstGeom prst="roundRect">
            <a:avLst/>
          </a:prstGeom>
          <a:solidFill>
            <a:srgbClr val="121C2B"/>
          </a:solidFill>
          <a:ln w="1524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本地服务层：Flask API、记忆接口、创作接口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4178807"/>
            <a:ext cx="8412480" cy="530352"/>
          </a:xfrm>
          <a:prstGeom prst="roundRect">
            <a:avLst/>
          </a:prstGeom>
          <a:solidFill>
            <a:srgbClr val="19283C"/>
          </a:solidFill>
          <a:ln w="1524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AI 能力层：DeepSeek/兼容模型、GPT-SoVITS、系统语音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5047488"/>
            <a:ext cx="8412480" cy="530352"/>
          </a:xfrm>
          <a:prstGeom prst="roundRect">
            <a:avLst/>
          </a:prstGeom>
          <a:solidFill>
            <a:srgbClr val="121C2B"/>
          </a:solidFill>
          <a:ln w="1524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数据层：vivy.sqlite、本地偏好、本地对话记录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394960"/>
            <a:ext cx="10972800" cy="68580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技术关键词</a:t>
            </a:r>
          </a:p>
          <a:p>
            <a:pPr>
              <a:spcAft>
                <a:spcPts val="700"/>
              </a:spcAft>
              <a:defRPr sz="1500">
                <a:solidFill>
                  <a:srgbClr val="F1F8FF"/>
                </a:solidFill>
              </a:defRPr>
            </a:pPr>
            <a:r>
              <a:t>• PyQt6：桌宠界面与交互</a:t>
            </a:r>
          </a:p>
          <a:p>
            <a:pPr>
              <a:spcAft>
                <a:spcPts val="700"/>
              </a:spcAft>
              <a:defRPr sz="1500">
                <a:solidFill>
                  <a:srgbClr val="F1F8FF"/>
                </a:solidFill>
              </a:defRPr>
            </a:pPr>
            <a:r>
              <a:t>• Flask：本地 API 服务</a:t>
            </a:r>
          </a:p>
          <a:p>
            <a:pPr>
              <a:spcAft>
                <a:spcPts val="700"/>
              </a:spcAft>
              <a:defRPr sz="1500">
                <a:solidFill>
                  <a:srgbClr val="F1F8FF"/>
                </a:solidFill>
              </a:defRPr>
            </a:pPr>
            <a:r>
              <a:t>• DeepSeek / 兼容模型：对话与创作能力</a:t>
            </a:r>
          </a:p>
          <a:p>
            <a:pPr>
              <a:spcAft>
                <a:spcPts val="700"/>
              </a:spcAft>
              <a:defRPr sz="1500">
                <a:solidFill>
                  <a:srgbClr val="F1F8FF"/>
                </a:solidFill>
              </a:defRPr>
            </a:pPr>
            <a:r>
              <a:t>• GPT-SoVITS / 系统 TTS：语音播报</a:t>
            </a:r>
          </a:p>
          <a:p>
            <a:pPr>
              <a:spcAft>
                <a:spcPts val="700"/>
              </a:spcAft>
              <a:defRPr sz="1500">
                <a:solidFill>
                  <a:srgbClr val="F1F8FF"/>
                </a:solidFill>
              </a:defRPr>
            </a:pPr>
            <a:r>
              <a:t>• SQLite：本地记忆与对话持久化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3550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9DC"/>
                </a:solidFill>
              </a:rPr>
              <a:t>VIVY 项目汇报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8FF"/>
                </a:solidFill>
              </a:rPr>
              <a:t>运行流程图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7C9DC"/>
                </a:solidFill>
              </a:rPr>
              <a:t>从启动脚本到桌宠进入可交互状态的主流程。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846320" cy="452628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流程说明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Windows 版先由启动脚本拉起本地语音服务，再启动桌宠程序。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桌宠启动后会初始化本地后端、数据库与用户会话。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初始化完成后，系统进入可交互状态，等待用户输入。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0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EE4FF"/>
                </a:solidFill>
              </a:rPr>
              <a:t>启动流程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783080"/>
            <a:ext cx="5212080" cy="512064"/>
          </a:xfrm>
          <a:prstGeom prst="roundRect">
            <a:avLst/>
          </a:prstGeom>
          <a:solidFill>
            <a:srgbClr val="121C2B"/>
          </a:solidFill>
          <a:ln w="15240"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1. 双击 start_all.bat</a:t>
            </a:r>
          </a:p>
        </p:txBody>
      </p:sp>
      <p:sp>
        <p:nvSpPr>
          <p:cNvPr id="7" name="Down Arrow 6"/>
          <p:cNvSpPr/>
          <p:nvPr/>
        </p:nvSpPr>
        <p:spPr>
          <a:xfrm>
            <a:off x="8385048" y="2295144"/>
            <a:ext cx="329184" cy="164592"/>
          </a:xfrm>
          <a:prstGeom prst="downArrow">
            <a:avLst/>
          </a:prstGeom>
          <a:solidFill>
            <a:srgbClr val="38BEE8"/>
          </a:solidFill>
          <a:ln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2441448"/>
            <a:ext cx="5212080" cy="512064"/>
          </a:xfrm>
          <a:prstGeom prst="roundRect">
            <a:avLst/>
          </a:prstGeom>
          <a:solidFill>
            <a:srgbClr val="19283C"/>
          </a:solidFill>
          <a:ln w="15240"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2. 调用 start_all.ps1</a:t>
            </a:r>
          </a:p>
        </p:txBody>
      </p:sp>
      <p:sp>
        <p:nvSpPr>
          <p:cNvPr id="9" name="Down Arrow 8"/>
          <p:cNvSpPr/>
          <p:nvPr/>
        </p:nvSpPr>
        <p:spPr>
          <a:xfrm>
            <a:off x="8385048" y="2953511"/>
            <a:ext cx="329184" cy="164592"/>
          </a:xfrm>
          <a:prstGeom prst="downArrow">
            <a:avLst/>
          </a:prstGeom>
          <a:solidFill>
            <a:srgbClr val="38BEE8"/>
          </a:solidFill>
          <a:ln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0" y="3099815"/>
            <a:ext cx="5212080" cy="512064"/>
          </a:xfrm>
          <a:prstGeom prst="roundRect">
            <a:avLst/>
          </a:prstGeom>
          <a:solidFill>
            <a:srgbClr val="121C2B"/>
          </a:solidFill>
          <a:ln w="15240"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3. 检测 GPU / CPU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8385048" y="3611879"/>
            <a:ext cx="329184" cy="164592"/>
          </a:xfrm>
          <a:prstGeom prst="downArrow">
            <a:avLst/>
          </a:prstGeom>
          <a:solidFill>
            <a:srgbClr val="38BEE8"/>
          </a:solidFill>
          <a:ln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0" y="3758183"/>
            <a:ext cx="5212080" cy="512064"/>
          </a:xfrm>
          <a:prstGeom prst="roundRect">
            <a:avLst/>
          </a:prstGeom>
          <a:solidFill>
            <a:srgbClr val="19283C"/>
          </a:solidFill>
          <a:ln w="15240"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4. 启动 GPT-SoVITS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385048" y="4270247"/>
            <a:ext cx="329184" cy="164592"/>
          </a:xfrm>
          <a:prstGeom prst="downArrow">
            <a:avLst/>
          </a:prstGeom>
          <a:solidFill>
            <a:srgbClr val="38BEE8"/>
          </a:solidFill>
          <a:ln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0" y="4416551"/>
            <a:ext cx="5212080" cy="512064"/>
          </a:xfrm>
          <a:prstGeom prst="roundRect">
            <a:avLst/>
          </a:prstGeom>
          <a:solidFill>
            <a:srgbClr val="121C2B"/>
          </a:solidFill>
          <a:ln w="15240"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5. 等待端口就绪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385048" y="4928615"/>
            <a:ext cx="329184" cy="164592"/>
          </a:xfrm>
          <a:prstGeom prst="downArrow">
            <a:avLst/>
          </a:prstGeom>
          <a:solidFill>
            <a:srgbClr val="38BEE8"/>
          </a:solidFill>
          <a:ln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0" y="5074919"/>
            <a:ext cx="5212080" cy="512064"/>
          </a:xfrm>
          <a:prstGeom prst="roundRect">
            <a:avLst/>
          </a:prstGeom>
          <a:solidFill>
            <a:srgbClr val="19283C"/>
          </a:solidFill>
          <a:ln w="15240"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6. 启动 VIVY.exe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8385048" y="5586983"/>
            <a:ext cx="329184" cy="164592"/>
          </a:xfrm>
          <a:prstGeom prst="downArrow">
            <a:avLst/>
          </a:prstGeom>
          <a:solidFill>
            <a:srgbClr val="38BEE8"/>
          </a:solidFill>
          <a:ln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0" y="5733287"/>
            <a:ext cx="5212080" cy="512064"/>
          </a:xfrm>
          <a:prstGeom prst="roundRect">
            <a:avLst/>
          </a:prstGeom>
          <a:solidFill>
            <a:srgbClr val="121C2B"/>
          </a:solidFill>
          <a:ln w="15240"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7. 初始化会话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3550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9DC"/>
                </a:solidFill>
              </a:rPr>
              <a:t>VIVY 项目汇报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8FF"/>
                </a:solidFill>
              </a:rPr>
              <a:t>运行流程图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7C9DC"/>
                </a:solidFill>
              </a:rPr>
              <a:t>用户发起一次完整交互时，系统的主要处理路径。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846320" cy="452628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交互说明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输入来源可以是文字、语音、图片或快捷按钮。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系统先判断是否命中本地功能，例如唱歌或换个问题。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非本地功能会进入 AI 请求链路，由后端读取记忆和偏好后调用模型。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结果返回后，前端负责显示气泡、语音播报和刷新记忆。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0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EE4FF"/>
                </a:solidFill>
              </a:rPr>
              <a:t>对话流程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783080"/>
            <a:ext cx="5212080" cy="512064"/>
          </a:xfrm>
          <a:prstGeom prst="roundRect">
            <a:avLst/>
          </a:prstGeom>
          <a:solidFill>
            <a:srgbClr val="121C2B"/>
          </a:solidFill>
          <a:ln w="15240"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1. 用户输入</a:t>
            </a:r>
          </a:p>
        </p:txBody>
      </p:sp>
      <p:sp>
        <p:nvSpPr>
          <p:cNvPr id="7" name="Down Arrow 6"/>
          <p:cNvSpPr/>
          <p:nvPr/>
        </p:nvSpPr>
        <p:spPr>
          <a:xfrm>
            <a:off x="8385048" y="2295144"/>
            <a:ext cx="329184" cy="164592"/>
          </a:xfrm>
          <a:prstGeom prst="downArrow">
            <a:avLst/>
          </a:prstGeom>
          <a:solidFill>
            <a:srgbClr val="38BEE8"/>
          </a:solidFill>
          <a:ln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2441448"/>
            <a:ext cx="5212080" cy="512064"/>
          </a:xfrm>
          <a:prstGeom prst="roundRect">
            <a:avLst/>
          </a:prstGeom>
          <a:solidFill>
            <a:srgbClr val="19283C"/>
          </a:solidFill>
          <a:ln w="15240"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2. 判断本地功能</a:t>
            </a:r>
          </a:p>
        </p:txBody>
      </p:sp>
      <p:sp>
        <p:nvSpPr>
          <p:cNvPr id="9" name="Down Arrow 8"/>
          <p:cNvSpPr/>
          <p:nvPr/>
        </p:nvSpPr>
        <p:spPr>
          <a:xfrm>
            <a:off x="8385048" y="2953511"/>
            <a:ext cx="329184" cy="164592"/>
          </a:xfrm>
          <a:prstGeom prst="downArrow">
            <a:avLst/>
          </a:prstGeom>
          <a:solidFill>
            <a:srgbClr val="38BEE8"/>
          </a:solidFill>
          <a:ln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0" y="3099815"/>
            <a:ext cx="5212080" cy="512064"/>
          </a:xfrm>
          <a:prstGeom prst="roundRect">
            <a:avLst/>
          </a:prstGeom>
          <a:solidFill>
            <a:srgbClr val="121C2B"/>
          </a:solidFill>
          <a:ln w="15240"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3. 请求本地 API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8385048" y="3611879"/>
            <a:ext cx="329184" cy="164592"/>
          </a:xfrm>
          <a:prstGeom prst="downArrow">
            <a:avLst/>
          </a:prstGeom>
          <a:solidFill>
            <a:srgbClr val="38BEE8"/>
          </a:solidFill>
          <a:ln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0" y="3758183"/>
            <a:ext cx="5212080" cy="512064"/>
          </a:xfrm>
          <a:prstGeom prst="roundRect">
            <a:avLst/>
          </a:prstGeom>
          <a:solidFill>
            <a:srgbClr val="19283C"/>
          </a:solidFill>
          <a:ln w="15240"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4. 读取记忆 / 偏好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385048" y="4270247"/>
            <a:ext cx="329184" cy="164592"/>
          </a:xfrm>
          <a:prstGeom prst="downArrow">
            <a:avLst/>
          </a:prstGeom>
          <a:solidFill>
            <a:srgbClr val="38BEE8"/>
          </a:solidFill>
          <a:ln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0" y="4416551"/>
            <a:ext cx="5212080" cy="512064"/>
          </a:xfrm>
          <a:prstGeom prst="roundRect">
            <a:avLst/>
          </a:prstGeom>
          <a:solidFill>
            <a:srgbClr val="121C2B"/>
          </a:solidFill>
          <a:ln w="15240"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5. 调用模型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385048" y="4928615"/>
            <a:ext cx="329184" cy="164592"/>
          </a:xfrm>
          <a:prstGeom prst="downArrow">
            <a:avLst/>
          </a:prstGeom>
          <a:solidFill>
            <a:srgbClr val="38BEE8"/>
          </a:solidFill>
          <a:ln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0" y="5074919"/>
            <a:ext cx="5212080" cy="512064"/>
          </a:xfrm>
          <a:prstGeom prst="roundRect">
            <a:avLst/>
          </a:prstGeom>
          <a:solidFill>
            <a:srgbClr val="19283C"/>
          </a:solidFill>
          <a:ln w="15240"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6. 返回回复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8385048" y="5586983"/>
            <a:ext cx="329184" cy="164592"/>
          </a:xfrm>
          <a:prstGeom prst="downArrow">
            <a:avLst/>
          </a:prstGeom>
          <a:solidFill>
            <a:srgbClr val="38BEE8"/>
          </a:solidFill>
          <a:ln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0" y="5733287"/>
            <a:ext cx="5212080" cy="512064"/>
          </a:xfrm>
          <a:prstGeom prst="roundRect">
            <a:avLst/>
          </a:prstGeom>
          <a:solidFill>
            <a:srgbClr val="121C2B"/>
          </a:solidFill>
          <a:ln w="15240"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7. 显示 / 播报 / 刷新记忆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3550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9DC"/>
                </a:solidFill>
              </a:rPr>
              <a:t>VIVY 项目汇报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8FF"/>
                </a:solidFill>
              </a:rPr>
              <a:t>技术方案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7C9DC"/>
                </a:solidFill>
              </a:rPr>
              <a:t>VIVY 的实现方案重点在于交互层、服务层与语音链路的协同。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846320" cy="452628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前后端方案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前端采用 PyQt6，负责桌宠形象、输入区、气泡区、记忆面板和创作入口。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后端采用 Flask，提供 init、message、message_stream、memory、creative_doc_stream 等接口。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桌宠与后端通过本地 HTTP 调用，保持 UI 与业务逻辑分离。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554480"/>
            <a:ext cx="5212080" cy="452628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语音与数据方案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Windows 默认本地 GPT-SoVITS，macOS 默认系统 say。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语音输入走系统听写，降低跨平台接入难度。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用户记忆、本地偏好与对话回合写入 SQLite。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通过中断 token 机制保证新问题可打断旧回复。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550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9DC"/>
                </a:solidFill>
              </a:rPr>
              <a:t>VIVY 项目汇报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8FF"/>
                </a:solidFill>
              </a:rPr>
              <a:t>技术方案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7C9DC"/>
                </a:solidFill>
              </a:rPr>
              <a:t>双平台兼容采取“Windows 成品包 + macOS 源码启动包”的阶段性方案。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846320" cy="452628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Windows 方案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保留完整的本地 GPT-SoVITS 运行环境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通过 start_all.bat / start_all.ps1 一键启动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适合直接分发与开箱即用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554480"/>
            <a:ext cx="5212080" cy="452628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macOS 方案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通过 start_all.command / start_all.sh 启动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自动创建 venv 并安装依赖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使用跨平台桌宠源码和系统语音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在交互逻辑上尽量与 Windows 保持一致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550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9DC"/>
                </a:solidFill>
              </a:rPr>
              <a:t>VIVY 项目汇报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8FF"/>
                </a:solidFill>
              </a:rP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7C9DC"/>
                </a:solidFill>
              </a:rPr>
              <a:t>VIVY 已经具备可演示、可交互、可继续扩展的完整桌宠形态。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846320" cy="452628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项目成果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完成桌宠 UI、对话、语音、唱歌、记忆、创作辅助等核心闭环。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已支持双平台运行方案，并完成主要界面逻辑对齐。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形成了从启动、交互到本地数据管理的完整技术链路。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554480"/>
            <a:ext cx="5212080" cy="452628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后续方向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进一步完善 macOS 原生打包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补齐 Release 说明与交付文档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提升流式失败场景的兜底策略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继续优化视觉与语音体验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550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9DC"/>
                </a:solidFill>
              </a:rPr>
              <a:t>VIVY 项目汇报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