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658368"/>
            <a:ext cx="109728" cy="5394960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" y="749808"/>
            <a:ext cx="6583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EFF8FF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140817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5DA"/>
                </a:solidFill>
                <a:latin typeface="Microsoft YaHei"/>
              </a:rPr>
              <a:t>陪伴型 AI 桌宠｜对话记忆｜天气问候｜创作辅助｜双平台交付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240280"/>
            <a:ext cx="6583680" cy="214884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项目定位</a:t>
            </a:r>
          </a:p>
          <a:p>
            <a:pPr>
              <a:spcAft>
                <a:spcPts val="500"/>
              </a:spcAft>
              <a:defRPr sz="1600">
                <a:solidFill>
                  <a:srgbClr val="EFF8FF"/>
                </a:solidFill>
                <a:latin typeface="Microsoft YaHei"/>
              </a:defRPr>
            </a:pPr>
            <a:r>
              <a:t>• 把 AI 对话、情绪陪伴、创作辅助和本地记忆做成桌面常驻角色。</a:t>
            </a:r>
          </a:p>
          <a:p>
            <a:pPr>
              <a:spcAft>
                <a:spcPts val="500"/>
              </a:spcAft>
              <a:defRPr sz="1600">
                <a:solidFill>
                  <a:srgbClr val="EFF8FF"/>
                </a:solidFill>
                <a:latin typeface="Microsoft YaHei"/>
              </a:defRPr>
            </a:pPr>
            <a:r>
              <a:t>• 用户无需打开网页，通过桌宠即可聊天、获取提醒、读文档、进入写作辅助。</a:t>
            </a:r>
          </a:p>
          <a:p>
            <a:pPr>
              <a:spcAft>
                <a:spcPts val="500"/>
              </a:spcAft>
              <a:defRPr sz="1600">
                <a:solidFill>
                  <a:srgbClr val="EFF8FF"/>
                </a:solidFill>
                <a:latin typeface="Microsoft YaHei"/>
              </a:defRPr>
            </a:pPr>
            <a:r>
              <a:t>• 强调“像在身边”的低压力交互，而不是一次性工具式问答。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709160"/>
            <a:ext cx="1600200" cy="82296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33C2E8"/>
                </a:solidFill>
                <a:latin typeface="Microsoft YaHei"/>
              </a:rPr>
              <a:t>AI</a:t>
            </a:r>
          </a:p>
          <a:p>
            <a:pPr algn="ctr"/>
            <a:r>
              <a:rPr sz="1100">
                <a:solidFill>
                  <a:srgbClr val="B0C5DA"/>
                </a:solidFill>
                <a:latin typeface="Microsoft YaHei"/>
              </a:rPr>
              <a:t>本地桌宠入口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4709160"/>
            <a:ext cx="1600200" cy="82296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5BCE97"/>
                </a:solidFill>
                <a:latin typeface="Microsoft YaHei"/>
              </a:rPr>
              <a:t>记忆</a:t>
            </a:r>
          </a:p>
          <a:p>
            <a:pPr algn="ctr"/>
            <a:r>
              <a:rPr sz="1100">
                <a:solidFill>
                  <a:srgbClr val="B0C5DA"/>
                </a:solidFill>
                <a:latin typeface="Microsoft YaHei"/>
              </a:rPr>
              <a:t>长期陪伴状态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4709160"/>
            <a:ext cx="1600200" cy="82296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FFB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BC60"/>
                </a:solidFill>
                <a:latin typeface="Microsoft YaHei"/>
              </a:rPr>
              <a:t>双平台</a:t>
            </a:r>
          </a:p>
          <a:p>
            <a:pPr algn="ctr"/>
            <a:r>
              <a:rPr sz="1100">
                <a:solidFill>
                  <a:srgbClr val="B0C5DA"/>
                </a:solidFill>
                <a:latin typeface="Microsoft YaHei"/>
              </a:rPr>
              <a:t>Windows / macOS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4709160"/>
            <a:ext cx="1600200" cy="82296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33C2E8"/>
                </a:solidFill>
                <a:latin typeface="Microsoft YaHei"/>
              </a:rPr>
              <a:t>创作</a:t>
            </a:r>
          </a:p>
          <a:p>
            <a:pPr algn="ctr"/>
            <a:r>
              <a:rPr sz="1100">
                <a:solidFill>
                  <a:srgbClr val="B0C5DA"/>
                </a:solidFill>
                <a:latin typeface="Microsoft YaHei"/>
              </a:rPr>
              <a:t>文档与写作辅助</a:t>
            </a:r>
          </a:p>
        </p:txBody>
      </p:sp>
      <p:pic>
        <p:nvPicPr>
          <p:cNvPr id="10" name="Picture 9" descr="VIVYsta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914400"/>
            <a:ext cx="4785598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Project Overview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1. 作品简介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VIVY 是一个以桌宠形态运行的本地 AI 交互系统。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438912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项目是什么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桌面常驻：透明无边框、可拖拽、可待机收起。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AI 交互：聊天、图片理解入口、语音输入、语音回放。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陪伴表达：天气问候、时间感知、情绪安慰、唱歌互动。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创作辅助：灵感、短剧、读取文档、沉浸写作窗口。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5257800" cy="438912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项目目标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让 AI 从“网页里的工具”变成桌面上的长期角色。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让用户更自然地表达需求、情绪和创作想法。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在本地保存偏好与状态，让 Vivy 记得用户和使用节奏。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形成可演示、可打包、可继续扩展的桌宠产品原型。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2. 产品作用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VIVY 同时承担陪伴、提醒、创作入口和轻量助手四类作用。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577840" cy="452628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用户价值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陪伴：降低用户开口成本，让桌面上有一个持续回应的角色。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提醒：根据时间、天气、打开次数和每日时段提供适度问候。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效率：把聊天、文档、写作、记忆和语音集中到一个桌宠入口。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创作：给写作者提供灵感、续写、润色、点评和文档参考能力。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417320"/>
            <a:ext cx="4800600" cy="452628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典型场景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早上第一次打开电脑，Vivy 播报天气和防护提醒。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学习或工作间隙，用一句话快速问问题、看时间或查天气。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心情低落时，先被接住情绪，再选择聊天或听歌。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写作时读取参考文档，在沉浸窗口中获得创作辅助。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3. 用户体验设计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体验重点是轻量、可控、可恢复，以及更像真实陪伴对象。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轻量入口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554480"/>
            <a:ext cx="8275320" cy="438912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双击 start_all 或 exe 启动，桌宠直接常驻桌面。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12848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自然表达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212848"/>
            <a:ext cx="8275320" cy="438912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支持文字、语音、图片和快捷按钮，不必切换多个工具。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71215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状态可控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871215"/>
            <a:ext cx="8275320" cy="438912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语音回放、待机时长、记忆面板、位置与天气设置可手动调整。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29584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不打扰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529584"/>
            <a:ext cx="8275320" cy="438912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每日首次问候和时段问候都有记忆去重，关闭重开不会重复寒暄。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87952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可打断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187952"/>
            <a:ext cx="8275320" cy="438912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新问题可以中断旧语音和旧回复，减少串线。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46320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有温度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4846320"/>
            <a:ext cx="8275320" cy="438912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唱歌不是情绪关键词触发，而是先安慰、再邀请、再由用户选择。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4. 功能说明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目前已形成较完整的桌宠功能闭环。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611880" cy="466344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基础能力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普通聊天与创作模式切换。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时间查询：直接读取电脑本地时间，避免模型猜错。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天气查询：手动默认城市 + 可选 IP 粗定位。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图片理解入口：可接入支持视觉的模型。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语音输入和语音回放开关。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417320"/>
            <a:ext cx="3611880" cy="466344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陪伴能力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每天第一次打开自动问候。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早 / 中 / 晚 / 深夜时段自动问候。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早上问候会播报天气并给防护建议。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情绪低落先安慰，明确同意后再唱歌。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每日状态写入本地记忆，避免重复打扰。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417320"/>
            <a:ext cx="3108960" cy="466344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创作能力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今日灵感和脑洞短剧。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读取 txt / md / docx / pdf 文档。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沉浸写作：新建、保存、全屏、目标字数。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润色、续写、点评、加强和自定义指令。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最近文档和自动备份恢复。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5. 记忆与每日问候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Vivy 会记住今天已经见过用户几次、哪些时段已经问候过。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983480" cy="475488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记忆字段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daily_greeting_state：按日期保存每日问候状态。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open_count：当天打开 Vivy 的次数。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open_greeted：当天首次打开问候是否已完成。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slots：早 / 中 / 晚 / 深夜哪些时段已问候。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open_event_ids：防止同一次启动重试时重复计数。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4800600" cy="45720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1. 桌宠启动生成本次 open_event_id</a:t>
            </a:r>
          </a:p>
        </p:txBody>
      </p:sp>
      <p:sp>
        <p:nvSpPr>
          <p:cNvPr id="8" name="Down Arrow 7"/>
          <p:cNvSpPr/>
          <p:nvPr/>
        </p:nvSpPr>
        <p:spPr>
          <a:xfrm>
            <a:off x="8535924" y="1892807"/>
            <a:ext cx="256032" cy="219456"/>
          </a:xfrm>
          <a:prstGeom prst="downArrow">
            <a:avLst/>
          </a:prstGeom>
          <a:solidFill>
            <a:srgbClr val="5BCE97"/>
          </a:solidFill>
          <a:ln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2039112"/>
            <a:ext cx="4800600" cy="45720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2. 调用 /api/weather/greeting trigger=open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535924" y="2514600"/>
            <a:ext cx="256032" cy="219456"/>
          </a:xfrm>
          <a:prstGeom prst="downArrow">
            <a:avLst/>
          </a:prstGeom>
          <a:solidFill>
            <a:srgbClr val="5BCE97"/>
          </a:solidFill>
          <a:ln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660904"/>
            <a:ext cx="4800600" cy="45720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3. 后端读取 daily_greeting_state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535924" y="3136391"/>
            <a:ext cx="256032" cy="219456"/>
          </a:xfrm>
          <a:prstGeom prst="downArrow">
            <a:avLst/>
          </a:prstGeom>
          <a:solidFill>
            <a:srgbClr val="5BCE97"/>
          </a:solidFill>
          <a:ln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282696"/>
            <a:ext cx="4800600" cy="45720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4. 第一次打开则问候并标记 open_greeted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535924" y="3758183"/>
            <a:ext cx="256032" cy="219456"/>
          </a:xfrm>
          <a:prstGeom prst="downArrow">
            <a:avLst/>
          </a:prstGeom>
          <a:solidFill>
            <a:srgbClr val="5BCE97"/>
          </a:solidFill>
          <a:ln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04487"/>
            <a:ext cx="4800600" cy="45720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5. 关闭重开只增加 open_count，不重复问候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535924" y="4379975"/>
            <a:ext cx="256032" cy="219456"/>
          </a:xfrm>
          <a:prstGeom prst="downArrow">
            <a:avLst/>
          </a:prstGeom>
          <a:solidFill>
            <a:srgbClr val="5BCE97"/>
          </a:solidFill>
          <a:ln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526279"/>
            <a:ext cx="4800600" cy="45720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5B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6. 定时问候用 trigger=schedule 按 slot 去重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6. 时间、天气与位置系统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Vivy 能理解当前时间，也能围绕用户所在地提供天气提醒。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429000" cy="443484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时间能力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前端和后端都支持本地时间直答。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回答包含日期、星期、时区和时间段。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避免模型根据训练数据或服务器环境猜错时间。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611880" cy="443484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天气能力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支持“今天会下雨吗”“上海明天几度”等自然提问。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城市解析支持手动默认城市和消息中的显式城市。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可选 IP 粗定位，仅用于天气，不做持续定位。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早晨问候会结合天气生成防护建议。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508760"/>
            <a:ext cx="3063240" cy="443484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用户控制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右键菜单设置当前位置。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右键菜单开启 / 关闭 IP 粗定位。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右键菜单开启 / 关闭每日问候。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env.example 保留默认城市与缓存 TTL 配置。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7. 情绪陪伴与唱歌逻辑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唱歌不再是“难过关键词”的机械触发，而是陪伴之后的选择。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63040"/>
            <a:ext cx="4754880" cy="438912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1. 用户表达情绪</a:t>
            </a:r>
          </a:p>
        </p:txBody>
      </p:sp>
      <p:sp>
        <p:nvSpPr>
          <p:cNvPr id="7" name="Down Arrow 6"/>
          <p:cNvSpPr/>
          <p:nvPr/>
        </p:nvSpPr>
        <p:spPr>
          <a:xfrm>
            <a:off x="3118103" y="1920240"/>
            <a:ext cx="256032" cy="210312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4754880" cy="438912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2. 本地分类：轻度 / 明显 / 高风险</a:t>
            </a:r>
          </a:p>
        </p:txBody>
      </p:sp>
      <p:sp>
        <p:nvSpPr>
          <p:cNvPr id="9" name="Down Arrow 8"/>
          <p:cNvSpPr/>
          <p:nvPr/>
        </p:nvSpPr>
        <p:spPr>
          <a:xfrm>
            <a:off x="3118103" y="2514600"/>
            <a:ext cx="256032" cy="210312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651760"/>
            <a:ext cx="4754880" cy="438912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3. 轻度：先安慰，不唱歌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118103" y="3108960"/>
            <a:ext cx="256032" cy="210312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246120"/>
            <a:ext cx="4754880" cy="438912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4. 明显：先安慰，并邀请是否想听歌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18103" y="3703320"/>
            <a:ext cx="256032" cy="210312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840480"/>
            <a:ext cx="4754880" cy="438912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5. 用户回复“唱吧 / 好 / 想听”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118103" y="4297680"/>
            <a:ext cx="256032" cy="210312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434840"/>
            <a:ext cx="4754880" cy="438912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6. 播放本地 WAV 歌曲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63040"/>
            <a:ext cx="5074920" cy="443484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设计原则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把唱歌作为安慰方式之一，而不是固定结果。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高风险表达优先进入谨慎回应，不进入唱歌分支。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同一段低落对话有唱歌提议冷却，避免反复打扰。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Windows 使用 winsound；macOS 走 Qt QSoundEffect 播放 WAV。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8. 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整体采用“桌宠 UI + 本地服务 + 外部模型 + 本地数据”的架构。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桌宠层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554480"/>
            <a:ext cx="8183880" cy="438912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PyQt6：透明窗口、头像、气泡、按钮、右键菜单、沉浸写作窗口。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12848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本地服务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212848"/>
            <a:ext cx="8183880" cy="438912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Flask：init、message、weather、memory、creative_doc_stream 等 API。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71215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AI 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871215"/>
            <a:ext cx="8183880" cy="438912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DeepSeek / OpenAI 兼容接口：对话、创作、总结与视觉扩展。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29584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语音链路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529584"/>
            <a:ext cx="8183880" cy="438912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GPT-SoVITS / 系统语音：语音回放、系统听写、可打断播报。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87952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数据层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187952"/>
            <a:ext cx="8183880" cy="438912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SQLite：用户偏好、长期摘要、对话回合、每日问候状态。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46320"/>
            <a:ext cx="1965960" cy="438912"/>
          </a:xfrm>
          <a:prstGeom prst="roundRect">
            <a:avLst/>
          </a:prstGeom>
          <a:solidFill>
            <a:srgbClr val="0F2C34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DE9FF"/>
                </a:solidFill>
                <a:latin typeface="Microsoft YaHei"/>
              </a:rPr>
              <a:t>分发层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4846320"/>
            <a:ext cx="8183880" cy="438912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61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EFF8FF"/>
                </a:solidFill>
                <a:latin typeface="Microsoft YaHei"/>
              </a:rPr>
              <a:t>Windows exe + start_all；macOS 源码启动包 + start_all.command。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9. 运行流程图：启动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双平台启动方式不同，但进入桌宠后的业务逻辑保持一致。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794760" cy="461772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Windows 启动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start_all.bat 调用 start_all.ps1。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检测 GPU / CPU 并启动 GPT-SoVITS。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等待本地语音服务端口就绪。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启动 VIVY.exe，初始化 Flask 与 SQLite。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417320"/>
            <a:ext cx="2468880" cy="45720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1. 用户双击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52744" y="1892807"/>
            <a:ext cx="256032" cy="219456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46320" y="2039112"/>
            <a:ext cx="2468880" cy="45720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2. 启动脚本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52744" y="2514600"/>
            <a:ext cx="256032" cy="219456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0" y="2660904"/>
            <a:ext cx="2468880" cy="45720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3. 语音服务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52744" y="3136391"/>
            <a:ext cx="256032" cy="219456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3282696"/>
            <a:ext cx="2468880" cy="45720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4. VIVY.exe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52744" y="3758183"/>
            <a:ext cx="256032" cy="219456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6320" y="3904487"/>
            <a:ext cx="2468880" cy="45720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5. 本地 API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52744" y="4379975"/>
            <a:ext cx="256032" cy="219456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46320" y="4526279"/>
            <a:ext cx="2468880" cy="45720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6. 桌宠可交互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417320"/>
            <a:ext cx="3703320" cy="461772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macOS 启动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start_all.command / start_all.sh 进入 VIVY-src。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自动创建 venv 并安装 requirements。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复制 env.example 为 .env。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使用系统语音与同一套桌宠源码启动。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10. 运行流程图：一次交互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一次用户输入会先走本地能力分流，再决定是否请求模型。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25880"/>
            <a:ext cx="5074920" cy="41148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1. 用户输入文字 / 语音 / 图片</a:t>
            </a:r>
          </a:p>
        </p:txBody>
      </p:sp>
      <p:sp>
        <p:nvSpPr>
          <p:cNvPr id="7" name="Down Arrow 6"/>
          <p:cNvSpPr/>
          <p:nvPr/>
        </p:nvSpPr>
        <p:spPr>
          <a:xfrm>
            <a:off x="3278123" y="1755648"/>
            <a:ext cx="256032" cy="173736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56232"/>
            <a:ext cx="5074920" cy="41148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2. 前端触摸时间与中断旧任务</a:t>
            </a:r>
          </a:p>
        </p:txBody>
      </p:sp>
      <p:sp>
        <p:nvSpPr>
          <p:cNvPr id="9" name="Down Arrow 8"/>
          <p:cNvSpPr/>
          <p:nvPr/>
        </p:nvSpPr>
        <p:spPr>
          <a:xfrm>
            <a:off x="3278123" y="2286000"/>
            <a:ext cx="256032" cy="173736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386584"/>
            <a:ext cx="5074920" cy="41148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3. 本地分流：时间、天气、唱歌、停止唱歌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278123" y="2816352"/>
            <a:ext cx="256032" cy="173736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916936"/>
            <a:ext cx="5074920" cy="41148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4. 需要 AI 时请求 Flask API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278123" y="3346704"/>
            <a:ext cx="256032" cy="173736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447288"/>
            <a:ext cx="5074920" cy="41148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5. 后端读取记忆和运行时上下文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278123" y="3877056"/>
            <a:ext cx="256032" cy="173736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977640"/>
            <a:ext cx="5074920" cy="41148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6. 调用模型或流式接口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278123" y="4407408"/>
            <a:ext cx="256032" cy="173736"/>
          </a:xfrm>
          <a:prstGeom prst="downArrow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507992"/>
            <a:ext cx="5074920" cy="41148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FF8FF"/>
                </a:solidFill>
                <a:latin typeface="Microsoft YaHei"/>
              </a:rPr>
              <a:t>7. 前端显示、播报、刷新记忆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25880"/>
            <a:ext cx="4800600" cy="470916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关键控制点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本地功能优先，减少简单问题对模型的依赖。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时间和天气用结构化逻辑处理，稳定性更高。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流式回复支持边生成边显示，并可打断。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语音回放使用 token 机制，避免旧回答继续播放。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每次交互后刷新记忆面板，保持状态可见。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11. 技术方案与数据安全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项目以本地优先为原则，用户数据默认留在本机。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892040" cy="466344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后端接口方案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/api/init：初始化用户会话。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/api/message / message_stream：普通与流式对话。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/api/weather / weather/greeting：天气与问候。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/api/memory：查看、编辑、删除回合。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/api/creative_doc_stream：文档创作辅助。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17320"/>
            <a:ext cx="5257800" cy="466344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本地数据方案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vivy.sqlite 保存记忆、偏好和对话回合。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.desktop_user_id 标记本机用户身份。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.env 保存 API Key，分发时不应放入压缩包。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打包给别人时排除 vivy.sqlite 与 .desktop_user_id，保证记忆从零开始。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每日问候状态只保存最近若干天，避免偏好字段无限增长。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12. 双平台交付方案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当前采用 Windows 成品包 + macOS 源码启动包的阶段性双平台方案。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892040" cy="448056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Windows 交付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包含 VIVY.exe / VIVY_layoutupdate.exe。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包含 start_all.bat 和 start_all.ps1 一键启动。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可随包携带 GPT-SoVITS 运行环境。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适合直接压缩分发给普通用户。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508760"/>
            <a:ext cx="5257800" cy="448056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macOS 交付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提供 VIVY-src 源码启动包。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start_all.command 自动准备 venv 和依赖。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默认使用系统语音，避免额外语音服务部署复杂度。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后续可继续推进 .app 打包、签名与公证。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13. 创新性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创新不只是功能堆叠，而是让 AI 以更生活化的方式长期存在。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257800" cy="466344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体验创新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把 AI 做成可拖拽、可待机、会主动问候的桌面角色。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通过每日打开次数和时段记忆，减少重复打扰。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情绪陪伴先理解再行动，唱歌变成用户选择，而非关键词触发。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天气、时间、语音和创作能力在一个桌宠入口中自然融合。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4983480" cy="466344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技术创新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本地 UI 与 Flask 服务解耦，便于持续扩展功能。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运行时上下文注入，让模型知道当前时间但不污染长期记忆。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结构化偏好 JSON 保存用户状态和每日问候记录。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跨平台音频播放和启动脚本降低部署门槛。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F8FF"/>
                </a:solidFill>
                <a:latin typeface="Microsoft YaHei"/>
              </a:rPr>
              <a:t>14. 总结与后续方向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5DA"/>
                </a:solidFill>
                <a:latin typeface="Microsoft YaHei"/>
              </a:rPr>
              <a:t>VIVY 已经具备可演示、可分发、可继续迭代的产品雏形。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33C2E8"/>
          </a:solidFill>
          <a:ln>
            <a:solidFill>
              <a:srgbClr val="33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7E96"/>
                </a:solidFill>
                <a:latin typeface="Microsoft YaHei"/>
              </a:rPr>
              <a:t>VIVY 桌宠项目汇报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257800" cy="4663440"/>
          </a:xfrm>
          <a:prstGeom prst="roundRect">
            <a:avLst/>
          </a:prstGeom>
          <a:solidFill>
            <a:srgbClr val="121C2A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当前成果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完成桌宠 UI、对话、语音、唱歌、记忆、天气、问候和创作辅助闭环。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完成 Windows exe 打包与 macOS 源码启动包同步。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形成本地记忆、每日问候状态和跨会话防重复机制。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具备面向用户演示和小范围分发的基础条件。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4983480" cy="4663440"/>
          </a:xfrm>
          <a:prstGeom prst="roundRect">
            <a:avLst/>
          </a:prstGeom>
          <a:solidFill>
            <a:srgbClr val="172638"/>
          </a:solidFill>
          <a:ln w="13970">
            <a:solidFill>
              <a:srgbClr val="7D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52400" tIns="127000" bIns="101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7DE9FF"/>
                </a:solidFill>
                <a:latin typeface="Microsoft YaHei"/>
              </a:rPr>
              <a:t>后续方向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完善 macOS 原生 .app 打包与签名。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优化天气来源、城市解析和异常网络兜底。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继续扩展更多个性化记忆和长期陪伴策略。</a:t>
            </a:r>
          </a:p>
          <a:p>
            <a:pPr>
              <a:spcAft>
                <a:spcPts val="500"/>
              </a:spcAft>
              <a:defRPr sz="1500">
                <a:solidFill>
                  <a:srgbClr val="EFF8FF"/>
                </a:solidFill>
                <a:latin typeface="Microsoft YaHei"/>
              </a:defRPr>
            </a:pPr>
            <a:r>
              <a:t>• 完善发布包清理规则，保护 API Key 和个人记忆隐私。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